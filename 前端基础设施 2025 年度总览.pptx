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E8"/>
    <a:srgbClr val="F0FDF4"/>
    <a:srgbClr val="F1F5F9"/>
    <a:srgbClr val="E0E7FF"/>
    <a:srgbClr val="BFDBFE"/>
    <a:srgbClr val="D1FAE5"/>
    <a:srgbClr val="ECFDF5"/>
    <a:srgbClr val="EEF2FF"/>
    <a:srgbClr val="DBEAFE"/>
    <a:srgbClr val="DBF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33"/>
    <p:restoredTop sz="94719"/>
  </p:normalViewPr>
  <p:slideViewPr>
    <p:cSldViewPr snapToGrid="0">
      <p:cViewPr>
        <p:scale>
          <a:sx n="154" d="100"/>
          <a:sy n="154" d="100"/>
        </p:scale>
        <p:origin x="7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A1FC6-B0AA-8BD0-D40E-6028669ED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908ECB-FD34-2210-D537-3BC0D8FA9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ECF7BC-3054-8917-8F7E-62DE3CB0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A296A5-FD8E-0C54-4844-A4D0B568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C3301-9F52-E45A-977E-CAFB8C6A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563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6D65D9-AA16-B560-E5C6-D4DA1892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CFC522-1353-B7CD-46B9-D87B244C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400F1F-EC97-5F78-B54D-FCAF0038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5B269D-9969-5A9C-7D08-8374CF1CA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AC5B7E-F919-E7F6-42E4-3A9E52DD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312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6E527-1558-65C7-811D-880FEFA3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2C51BD-FD27-1FA9-7548-E01724B38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34A838-806D-3396-576A-8A38BAC9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B280C9-FF98-0B82-F99C-9207518E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9ED2FF-5B71-8537-2D7C-5CCC0CA7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94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862F0-B808-F6D5-BA4F-1EA5ACF9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94698A-A5AF-CCE6-78FD-3FAF0C636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FF98BA-C823-B5E5-61C7-BA3B29A7A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023168-704B-B64C-8227-ED621BFD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E2F5C0-0904-3502-4BA5-82D3FAB8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A57746-0C22-23E2-82EF-ACDF4922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418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D01F1-D990-F94F-A82E-AFDC02EB2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8884D7-56A8-4405-FB2D-2BBEECF76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646BD4-B34D-797E-E3EC-2F5E6C895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4E59C6-526B-90EB-083C-B98FFB8D0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B5EA91-B27B-2181-1585-4A8C68DC1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CB1540B-2962-2E6E-41A5-E3F7998A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53BDDB-941F-7C64-0A07-0EC778DF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58286B-5C94-47C5-453C-A11457ECA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261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9D0711-6797-A166-CD3B-15111D61C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D328ED-FE3B-87C4-A445-1F3C163A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5BB586-0F67-4391-DAD5-5FE4D775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582E23-8B03-3DE8-58C0-9F4D1CB5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4762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77CC4D-97B1-1383-CB5B-73398A64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F7B939-ED44-4D47-A8C9-8FAE5C06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6E7C95-9BC2-8EF0-4863-2D9F60D8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2792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726B7-DFA8-11EB-C8E9-9377778A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712E09-AFCD-FE53-849E-33966CD58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C48C1-0D39-D50E-C9BC-A9BA5A71E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518B29-DC51-7177-8CAD-50812F1A9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3D68D2-221D-6BF8-D5C0-87FA5208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2C1F4D-7EE9-5E42-CE8A-3A2FEA43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840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039311-460B-76DA-26BB-CDAD64593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6450FA-B2D7-A922-7B05-3DEC93096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A699A4-5B0E-FDFD-340E-FA3106C3E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9775D-C6D1-9C4B-6BB2-BCF3B1FF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1A2A6D-C406-5168-B10D-A08E8996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38F06-2D61-D804-258C-6933FDD3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237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E908B-783E-C74A-6270-4DFD18F7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350099-E3CD-D61B-7B78-039ABF731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83701C-D84A-8F05-9E7F-C5C9CA96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283372-40A3-9AB7-9397-0999C9EE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569C21-9FA1-6D2A-745E-E2E3A387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814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8E65A1-72CF-CB0A-0A86-A13C1E939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5FC22E-E1EB-1CB4-E2F9-E77FFEFF7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E0916E-D8AE-6F20-C39D-EB69443F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9A9CB-EFF3-F6EF-1599-CDDBD20A3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FB3C7-3F86-F838-E285-020AD2B7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738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A48999-D819-0D71-47DF-EE527CF7C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EBBDE0-AC92-768A-147B-D935C4B07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F51F91-64C0-F2CB-2537-1C17C747F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C28E8-615B-EB46-9E3A-CE270BC53946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02BE7F-3891-E0B0-440E-809AF5A58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39745-FF65-A048-CB0C-D01AD0D37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3D3BC-5773-1348-B1A1-8C8B549B07D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094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9D92DE5-C250-D2E1-4681-AFD761086198}"/>
              </a:ext>
            </a:extLst>
          </p:cNvPr>
          <p:cNvSpPr txBox="1"/>
          <p:nvPr/>
        </p:nvSpPr>
        <p:spPr>
          <a:xfrm>
            <a:off x="255865" y="268340"/>
            <a:ext cx="36198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 dirty="0">
                <a:solidFill>
                  <a:srgbClr val="0F172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前端基础设施 </a:t>
            </a:r>
            <a:r>
              <a:rPr lang="en-US" altLang="zh-CN" sz="2000" b="1" i="0" dirty="0">
                <a:solidFill>
                  <a:srgbClr val="2563E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sz="2000" b="1" i="0" dirty="0">
                <a:solidFill>
                  <a:srgbClr val="0F172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 年度总览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D46EAB-97D5-2378-D28B-1822F4A2E1CD}"/>
              </a:ext>
            </a:extLst>
          </p:cNvPr>
          <p:cNvSpPr txBox="1"/>
          <p:nvPr/>
        </p:nvSpPr>
        <p:spPr>
          <a:xfrm>
            <a:off x="255865" y="668450"/>
            <a:ext cx="158971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64748B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务实 </a:t>
            </a:r>
            <a:r>
              <a:rPr lang="en-US" altLang="zh-CN" sz="1100" dirty="0">
                <a:solidFill>
                  <a:srgbClr val="64748B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· </a:t>
            </a:r>
            <a:r>
              <a:rPr lang="zh-CN" altLang="en-US" sz="1100" dirty="0">
                <a:solidFill>
                  <a:srgbClr val="64748B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可靠 </a:t>
            </a:r>
            <a:r>
              <a:rPr lang="en-US" altLang="zh-CN" sz="1100" dirty="0">
                <a:solidFill>
                  <a:srgbClr val="64748B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· </a:t>
            </a:r>
            <a:r>
              <a:rPr lang="zh-CN" altLang="en-US" sz="1100" dirty="0">
                <a:solidFill>
                  <a:srgbClr val="64748B"/>
                </a:solidFill>
                <a:effectLst/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一线支撑</a:t>
            </a:r>
            <a:endParaRPr lang="zh-CN" altLang="en-US" sz="1100" dirty="0"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5F28380-D8A3-3F28-88F6-484671DE2744}"/>
              </a:ext>
            </a:extLst>
          </p:cNvPr>
          <p:cNvSpPr/>
          <p:nvPr/>
        </p:nvSpPr>
        <p:spPr>
          <a:xfrm>
            <a:off x="377505" y="1197529"/>
            <a:ext cx="3619849" cy="2231471"/>
          </a:xfrm>
          <a:prstGeom prst="roundRect">
            <a:avLst>
              <a:gd name="adj" fmla="val 11028"/>
            </a:avLst>
          </a:prstGeom>
          <a:solidFill>
            <a:srgbClr val="EFF6FF">
              <a:alpha val="60000"/>
            </a:srgbClr>
          </a:solidFill>
          <a:ln w="635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A04D18F-38B0-96F8-2BB0-D8AACE466E02}"/>
              </a:ext>
            </a:extLst>
          </p:cNvPr>
          <p:cNvSpPr/>
          <p:nvPr/>
        </p:nvSpPr>
        <p:spPr>
          <a:xfrm>
            <a:off x="4286075" y="1197529"/>
            <a:ext cx="3619849" cy="2231471"/>
          </a:xfrm>
          <a:prstGeom prst="roundRect">
            <a:avLst>
              <a:gd name="adj" fmla="val 11028"/>
            </a:avLst>
          </a:prstGeom>
          <a:solidFill>
            <a:srgbClr val="EEF2FF">
              <a:alpha val="60000"/>
            </a:srgbClr>
          </a:solidFill>
          <a:ln w="6350">
            <a:solidFill>
              <a:srgbClr val="E0E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828DC9E-C4FA-9368-F953-47EB8FB9906F}"/>
              </a:ext>
            </a:extLst>
          </p:cNvPr>
          <p:cNvSpPr/>
          <p:nvPr/>
        </p:nvSpPr>
        <p:spPr>
          <a:xfrm>
            <a:off x="8194645" y="1197528"/>
            <a:ext cx="3619849" cy="2231471"/>
          </a:xfrm>
          <a:prstGeom prst="roundRect">
            <a:avLst>
              <a:gd name="adj" fmla="val 11028"/>
            </a:avLst>
          </a:prstGeom>
          <a:solidFill>
            <a:srgbClr val="ECFDF5">
              <a:alpha val="60000"/>
            </a:srgbClr>
          </a:solidFill>
          <a:ln w="6350">
            <a:solidFill>
              <a:srgbClr val="D1FA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3F60FAC-2B24-986C-8009-30EC57FB5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34" y="1351608"/>
            <a:ext cx="236988" cy="21723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2048C15-02CE-3C91-EDEA-041EF2C1B59A}"/>
              </a:ext>
            </a:extLst>
          </p:cNvPr>
          <p:cNvSpPr txBox="1"/>
          <p:nvPr/>
        </p:nvSpPr>
        <p:spPr>
          <a:xfrm>
            <a:off x="822122" y="1320639"/>
            <a:ext cx="9836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i="0" dirty="0">
                <a:solidFill>
                  <a:srgbClr val="33415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基础组件库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D483BB-50A0-3E16-D4CE-F20CDA9305F9}"/>
              </a:ext>
            </a:extLst>
          </p:cNvPr>
          <p:cNvSpPr txBox="1"/>
          <p:nvPr/>
        </p:nvSpPr>
        <p:spPr>
          <a:xfrm>
            <a:off x="1618291" y="1737576"/>
            <a:ext cx="135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HUI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React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7A7330E-DE1B-BCDB-7BF2-019BD68CC919}"/>
              </a:ext>
            </a:extLst>
          </p:cNvPr>
          <p:cNvSpPr txBox="1"/>
          <p:nvPr/>
        </p:nvSpPr>
        <p:spPr>
          <a:xfrm>
            <a:off x="726767" y="2674926"/>
            <a:ext cx="69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32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441887-4C49-B621-7F96-AA37D7AD2E04}"/>
              </a:ext>
            </a:extLst>
          </p:cNvPr>
          <p:cNvSpPr txBox="1"/>
          <p:nvPr/>
        </p:nvSpPr>
        <p:spPr>
          <a:xfrm>
            <a:off x="1143251" y="2777798"/>
            <a:ext cx="3372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FD9BCA-DDBB-094F-988E-52095FE306D5}"/>
              </a:ext>
            </a:extLst>
          </p:cNvPr>
          <p:cNvSpPr txBox="1"/>
          <p:nvPr/>
        </p:nvSpPr>
        <p:spPr>
          <a:xfrm>
            <a:off x="724094" y="3026485"/>
            <a:ext cx="612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稳定发版</a:t>
            </a:r>
            <a:endParaRPr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F45DB989-F62F-8251-3EDD-179CA394EB85}"/>
              </a:ext>
            </a:extLst>
          </p:cNvPr>
          <p:cNvCxnSpPr>
            <a:cxnSpLocks/>
          </p:cNvCxnSpPr>
          <p:nvPr/>
        </p:nvCxnSpPr>
        <p:spPr>
          <a:xfrm>
            <a:off x="1618291" y="2811010"/>
            <a:ext cx="0" cy="395239"/>
          </a:xfrm>
          <a:prstGeom prst="line">
            <a:avLst/>
          </a:prstGeom>
          <a:ln w="9525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DF1F281-DAA4-610C-FD42-AB42492C44C6}"/>
              </a:ext>
            </a:extLst>
          </p:cNvPr>
          <p:cNvSpPr txBox="1"/>
          <p:nvPr/>
        </p:nvSpPr>
        <p:spPr>
          <a:xfrm>
            <a:off x="1899650" y="2689040"/>
            <a:ext cx="361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3E9DDE6-CE09-09CA-D8C2-46B90F9B00AE}"/>
              </a:ext>
            </a:extLst>
          </p:cNvPr>
          <p:cNvSpPr txBox="1"/>
          <p:nvPr/>
        </p:nvSpPr>
        <p:spPr>
          <a:xfrm>
            <a:off x="2201691" y="2795653"/>
            <a:ext cx="3372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5BD893B-294E-3207-96D5-BDF5BB052777}"/>
              </a:ext>
            </a:extLst>
          </p:cNvPr>
          <p:cNvSpPr txBox="1"/>
          <p:nvPr/>
        </p:nvSpPr>
        <p:spPr>
          <a:xfrm>
            <a:off x="1873928" y="3026485"/>
            <a:ext cx="6120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并行版本</a:t>
            </a:r>
            <a:endParaRPr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78F85A-D84E-0851-881E-845EAF5FCC95}"/>
              </a:ext>
            </a:extLst>
          </p:cNvPr>
          <p:cNvSpPr txBox="1"/>
          <p:nvPr/>
        </p:nvSpPr>
        <p:spPr>
          <a:xfrm>
            <a:off x="2934626" y="2704525"/>
            <a:ext cx="6724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400</a:t>
            </a:r>
            <a:endParaRPr kumimoji="1" lang="zh-CN" altLang="en-US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927364E-67D7-A26E-6113-17FA6BA55AC0}"/>
              </a:ext>
            </a:extLst>
          </p:cNvPr>
          <p:cNvSpPr txBox="1"/>
          <p:nvPr/>
        </p:nvSpPr>
        <p:spPr>
          <a:xfrm>
            <a:off x="3458815" y="2752119"/>
            <a:ext cx="337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kumimoji="1"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E88D930-F072-DFA9-1CCC-B3D58A50869C}"/>
              </a:ext>
            </a:extLst>
          </p:cNvPr>
          <p:cNvSpPr txBox="1"/>
          <p:nvPr/>
        </p:nvSpPr>
        <p:spPr>
          <a:xfrm>
            <a:off x="2946905" y="3026485"/>
            <a:ext cx="6724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Issue</a:t>
            </a:r>
            <a:r>
              <a:rPr lang="zh-CN" altLang="en-US" sz="8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处理</a:t>
            </a:r>
            <a:endParaRPr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B4B410D9-ADDB-5D06-DED4-1541B8B950D5}"/>
              </a:ext>
            </a:extLst>
          </p:cNvPr>
          <p:cNvCxnSpPr>
            <a:cxnSpLocks/>
          </p:cNvCxnSpPr>
          <p:nvPr/>
        </p:nvCxnSpPr>
        <p:spPr>
          <a:xfrm>
            <a:off x="2698248" y="2811010"/>
            <a:ext cx="0" cy="395239"/>
          </a:xfrm>
          <a:prstGeom prst="line">
            <a:avLst/>
          </a:prstGeom>
          <a:ln w="9525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6E864DEC-4E17-F208-0987-97C97B51637D}"/>
              </a:ext>
            </a:extLst>
          </p:cNvPr>
          <p:cNvSpPr txBox="1"/>
          <p:nvPr/>
        </p:nvSpPr>
        <p:spPr>
          <a:xfrm>
            <a:off x="4723233" y="1291848"/>
            <a:ext cx="11078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i="0" dirty="0">
                <a:solidFill>
                  <a:srgbClr val="334155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可视化图表库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6577F70B-D973-B925-3A15-D9A8D7B1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582" y="1320639"/>
            <a:ext cx="216714" cy="216714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FF5E7A5-2D4B-8419-259F-0DE5B0417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28" y="2174464"/>
            <a:ext cx="3089620" cy="279815"/>
          </a:xfrm>
          <a:prstGeom prst="rect">
            <a:avLst/>
          </a:prstGeom>
        </p:spPr>
      </p:pic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C1E66C78-4218-101C-A0D0-888F0D0FD505}"/>
              </a:ext>
            </a:extLst>
          </p:cNvPr>
          <p:cNvCxnSpPr>
            <a:cxnSpLocks/>
          </p:cNvCxnSpPr>
          <p:nvPr/>
        </p:nvCxnSpPr>
        <p:spPr>
          <a:xfrm>
            <a:off x="4556582" y="2724459"/>
            <a:ext cx="3140166" cy="0"/>
          </a:xfrm>
          <a:prstGeom prst="line">
            <a:avLst/>
          </a:prstGeom>
          <a:ln w="9525">
            <a:solidFill>
              <a:srgbClr val="E0E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3B07BA0-A253-4A25-0462-FDD38F7C494F}"/>
              </a:ext>
            </a:extLst>
          </p:cNvPr>
          <p:cNvSpPr txBox="1"/>
          <p:nvPr/>
        </p:nvSpPr>
        <p:spPr>
          <a:xfrm>
            <a:off x="4458277" y="3050713"/>
            <a:ext cx="95959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优化沉淀</a:t>
            </a:r>
            <a:r>
              <a:rPr lang="zh-CN" altLang="en-US" sz="10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组件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EF76D27-5306-3027-B868-137592365B5D}"/>
              </a:ext>
            </a:extLst>
          </p:cNvPr>
          <p:cNvSpPr txBox="1"/>
          <p:nvPr/>
        </p:nvSpPr>
        <p:spPr>
          <a:xfrm>
            <a:off x="7035618" y="2973768"/>
            <a:ext cx="529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solidFill>
                  <a:srgbClr val="4338C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35</a:t>
            </a:r>
            <a:endParaRPr lang="zh-CN" alt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E6452A1-CD10-EFEB-2AC7-DB9624FF4862}"/>
              </a:ext>
            </a:extLst>
          </p:cNvPr>
          <p:cNvSpPr txBox="1"/>
          <p:nvPr/>
        </p:nvSpPr>
        <p:spPr>
          <a:xfrm>
            <a:off x="7394232" y="3075444"/>
            <a:ext cx="302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个</a:t>
            </a:r>
            <a:endParaRPr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96B9680-EA94-BD50-FD8E-4B4E69F4C29A}"/>
              </a:ext>
            </a:extLst>
          </p:cNvPr>
          <p:cNvSpPr txBox="1"/>
          <p:nvPr/>
        </p:nvSpPr>
        <p:spPr>
          <a:xfrm>
            <a:off x="4458277" y="2313263"/>
            <a:ext cx="5478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支撑领域</a:t>
            </a:r>
            <a:endParaRPr lang="zh-CN" alt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0826D68-0371-74A6-7DD2-08F213E76398}"/>
              </a:ext>
            </a:extLst>
          </p:cNvPr>
          <p:cNvSpPr txBox="1"/>
          <p:nvPr/>
        </p:nvSpPr>
        <p:spPr>
          <a:xfrm>
            <a:off x="4458277" y="2505262"/>
            <a:ext cx="16377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ICT</a:t>
            </a:r>
            <a:r>
              <a:rPr lang="en" altLang="zh-CN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华为云</a:t>
            </a:r>
            <a:r>
              <a:rPr lang="en" altLang="zh-CN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数字</a:t>
            </a:r>
            <a:r>
              <a:rPr lang="zh-CN" altLang="en-US" sz="800" b="1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能源</a:t>
            </a:r>
            <a:r>
              <a:rPr lang="en" altLang="zh-CN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三大领域</a:t>
            </a:r>
            <a:endParaRPr lang="zh-CN" altLang="en-US" sz="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CF413FF-83BD-39FD-219D-F7A86003EE75}"/>
              </a:ext>
            </a:extLst>
          </p:cNvPr>
          <p:cNvSpPr txBox="1"/>
          <p:nvPr/>
        </p:nvSpPr>
        <p:spPr>
          <a:xfrm>
            <a:off x="6584204" y="2316757"/>
            <a:ext cx="50075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覆盖产线</a:t>
            </a:r>
            <a:endParaRPr lang="zh-CN" alt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906347D-3A5B-6F59-084B-7E4EFBBF5C70}"/>
              </a:ext>
            </a:extLst>
          </p:cNvPr>
          <p:cNvSpPr txBox="1"/>
          <p:nvPr/>
        </p:nvSpPr>
        <p:spPr>
          <a:xfrm>
            <a:off x="6584204" y="2492083"/>
            <a:ext cx="7370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40+</a:t>
            </a:r>
            <a:r>
              <a:rPr lang="zh-CN" altLang="en-US" sz="80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产品线</a:t>
            </a:r>
            <a:endParaRPr lang="zh-CN" altLang="en-US" sz="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E02DC0C0-0A40-9BA3-C919-CBBAFDDC7E2A}"/>
              </a:ext>
            </a:extLst>
          </p:cNvPr>
          <p:cNvSpPr txBox="1"/>
          <p:nvPr/>
        </p:nvSpPr>
        <p:spPr>
          <a:xfrm>
            <a:off x="5417872" y="1736451"/>
            <a:ext cx="134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HUI</a:t>
            </a:r>
            <a:r>
              <a:rPr kumimoji="1" lang="zh-CN" altLang="en-US" dirty="0"/>
              <a:t> </a:t>
            </a:r>
            <a:r>
              <a:rPr kumimoji="1" lang="en-US" altLang="zh-CN" dirty="0"/>
              <a:t>-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Chart</a:t>
            </a:r>
            <a:endParaRPr kumimoji="1" lang="zh-CN" altLang="en-US" dirty="0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890EBA22-3E17-25D9-B058-13D72E792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460" y="1316662"/>
            <a:ext cx="231476" cy="224668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E9BC87EE-6BC0-28EE-6D76-1EE5B55B00CE}"/>
              </a:ext>
            </a:extLst>
          </p:cNvPr>
          <p:cNvSpPr txBox="1"/>
          <p:nvPr/>
        </p:nvSpPr>
        <p:spPr>
          <a:xfrm>
            <a:off x="8631936" y="1291848"/>
            <a:ext cx="11078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dirty="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图标库二方件</a:t>
            </a:r>
            <a:endParaRPr lang="zh-CN" altLang="en-US" sz="1200" i="0" dirty="0">
              <a:solidFill>
                <a:srgbClr val="334155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F40A231-7A43-C408-6C15-1B73E7CBDFDE}"/>
              </a:ext>
            </a:extLst>
          </p:cNvPr>
          <p:cNvSpPr txBox="1"/>
          <p:nvPr/>
        </p:nvSpPr>
        <p:spPr>
          <a:xfrm>
            <a:off x="9332198" y="1739114"/>
            <a:ext cx="1344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Icon-Plus</a:t>
            </a:r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EDCC132-A65A-AAC8-A05F-C10EAFEE2A03}"/>
              </a:ext>
            </a:extLst>
          </p:cNvPr>
          <p:cNvSpPr txBox="1"/>
          <p:nvPr/>
        </p:nvSpPr>
        <p:spPr>
          <a:xfrm>
            <a:off x="8385596" y="2599805"/>
            <a:ext cx="859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0F172A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106</a:t>
            </a:r>
            <a:endParaRPr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EBB01C7-CD40-DC30-E99F-D3566C1E2D15}"/>
              </a:ext>
            </a:extLst>
          </p:cNvPr>
          <p:cNvSpPr txBox="1"/>
          <p:nvPr/>
        </p:nvSpPr>
        <p:spPr>
          <a:xfrm>
            <a:off x="9030790" y="2689040"/>
            <a:ext cx="4286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i="0" dirty="0">
                <a:solidFill>
                  <a:srgbClr val="059669"/>
                </a:solidFill>
                <a:effectLst/>
                <a:latin typeface="Inter"/>
              </a:rPr>
              <a:t>万</a:t>
            </a:r>
            <a:endParaRPr lang="zh-CN" altLang="en-US" sz="1600" dirty="0"/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97313BE7-301D-4564-368F-033D65F176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586" y="3095754"/>
            <a:ext cx="266700" cy="241300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8CC72901-033F-58F9-9022-B9414EB4D1E2}"/>
              </a:ext>
            </a:extLst>
          </p:cNvPr>
          <p:cNvSpPr txBox="1"/>
          <p:nvPr/>
        </p:nvSpPr>
        <p:spPr>
          <a:xfrm>
            <a:off x="8758157" y="3100988"/>
            <a:ext cx="193033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下载次数 </a:t>
            </a:r>
            <a:r>
              <a:rPr lang="en-US" altLang="zh-CN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万 </a:t>
            </a:r>
            <a:r>
              <a:rPr lang="zh-CN" altLang="en-US" sz="900" b="0" i="0" dirty="0">
                <a:solidFill>
                  <a:srgbClr val="CBD5E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 </a:t>
            </a:r>
            <a:r>
              <a:rPr lang="en-US" altLang="zh-CN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106</a:t>
            </a:r>
            <a:r>
              <a:rPr lang="zh-CN" altLang="en-US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万 </a:t>
            </a:r>
            <a:r>
              <a:rPr lang="en-US" altLang="zh-CN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增长</a:t>
            </a:r>
            <a:r>
              <a:rPr lang="en-US" altLang="zh-CN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r>
              <a:rPr lang="zh-CN" altLang="en-US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倍</a:t>
            </a:r>
            <a:r>
              <a:rPr lang="en-US" altLang="zh-CN" sz="9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9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BAC4FFA-6DE9-FBEE-1BE9-2215CA6B1FCA}"/>
              </a:ext>
            </a:extLst>
          </p:cNvPr>
          <p:cNvSpPr txBox="1"/>
          <p:nvPr/>
        </p:nvSpPr>
        <p:spPr>
          <a:xfrm>
            <a:off x="10948059" y="3008630"/>
            <a:ext cx="779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1E293B"/>
                </a:solidFill>
                <a:effectLst/>
                <a:latin typeface="Inter"/>
              </a:rPr>
              <a:t>200</a:t>
            </a:r>
            <a:r>
              <a:rPr lang="zh-CN" altLang="en-US" b="1" i="0" dirty="0">
                <a:solidFill>
                  <a:srgbClr val="1E293B"/>
                </a:solidFill>
                <a:effectLst/>
                <a:latin typeface="Inter"/>
              </a:rPr>
              <a:t> </a:t>
            </a:r>
            <a:r>
              <a:rPr lang="en-US" altLang="zh-CN" b="0" i="0" dirty="0">
                <a:solidFill>
                  <a:srgbClr val="64748B"/>
                </a:solidFill>
                <a:effectLst/>
                <a:latin typeface="Inter"/>
              </a:rPr>
              <a:t>+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FC8583C-6767-5718-4884-BDA4DF1F00F7}"/>
              </a:ext>
            </a:extLst>
          </p:cNvPr>
          <p:cNvSpPr txBox="1"/>
          <p:nvPr/>
        </p:nvSpPr>
        <p:spPr>
          <a:xfrm>
            <a:off x="10975553" y="2864267"/>
            <a:ext cx="5478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覆盖产品</a:t>
            </a:r>
            <a:endParaRPr lang="zh-CN" alt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ABD2057B-418C-4A43-4AC8-C6D2C7FF22E4}"/>
              </a:ext>
            </a:extLst>
          </p:cNvPr>
          <p:cNvSpPr/>
          <p:nvPr/>
        </p:nvSpPr>
        <p:spPr>
          <a:xfrm>
            <a:off x="431596" y="3763703"/>
            <a:ext cx="5567313" cy="2739509"/>
          </a:xfrm>
          <a:prstGeom prst="roundRect">
            <a:avLst>
              <a:gd name="adj" fmla="val 8188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F1A09ABC-97BC-97FB-CB5B-CF4F132B2681}"/>
              </a:ext>
            </a:extLst>
          </p:cNvPr>
          <p:cNvSpPr/>
          <p:nvPr/>
        </p:nvSpPr>
        <p:spPr>
          <a:xfrm>
            <a:off x="6193092" y="3763704"/>
            <a:ext cx="5621402" cy="2739508"/>
          </a:xfrm>
          <a:prstGeom prst="roundRect">
            <a:avLst>
              <a:gd name="adj" fmla="val 8188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79A6619-D6AD-26E9-E934-5D167156C299}"/>
              </a:ext>
            </a:extLst>
          </p:cNvPr>
          <p:cNvSpPr txBox="1"/>
          <p:nvPr/>
        </p:nvSpPr>
        <p:spPr>
          <a:xfrm>
            <a:off x="578453" y="3905028"/>
            <a:ext cx="1668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🎯</a:t>
            </a:r>
            <a:r>
              <a:rPr lang="zh-CN" altLang="en-US" sz="120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200" b="1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我们面对的复杂性</a:t>
            </a:r>
            <a:endParaRPr lang="zh-CN" altLang="en-US" sz="1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6" name="直线连接符 75">
            <a:extLst>
              <a:ext uri="{FF2B5EF4-FFF2-40B4-BE49-F238E27FC236}">
                <a16:creationId xmlns:a16="http://schemas.microsoft.com/office/drawing/2014/main" id="{EE828F15-AAAA-D612-8475-1E56004FBA40}"/>
              </a:ext>
            </a:extLst>
          </p:cNvPr>
          <p:cNvCxnSpPr>
            <a:cxnSpLocks/>
          </p:cNvCxnSpPr>
          <p:nvPr/>
        </p:nvCxnSpPr>
        <p:spPr>
          <a:xfrm>
            <a:off x="757869" y="5198817"/>
            <a:ext cx="4943706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FE1D7696-0427-A8C2-A62A-384CF7B4F271}"/>
              </a:ext>
            </a:extLst>
          </p:cNvPr>
          <p:cNvCxnSpPr>
            <a:cxnSpLocks/>
          </p:cNvCxnSpPr>
          <p:nvPr/>
        </p:nvCxnSpPr>
        <p:spPr>
          <a:xfrm flipV="1">
            <a:off x="3238788" y="4353085"/>
            <a:ext cx="0" cy="189270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7FD663D0-13DC-A911-2B69-E2620E000ECE}"/>
              </a:ext>
            </a:extLst>
          </p:cNvPr>
          <p:cNvSpPr txBox="1"/>
          <p:nvPr/>
        </p:nvSpPr>
        <p:spPr>
          <a:xfrm>
            <a:off x="917356" y="4457766"/>
            <a:ext cx="817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多版本维护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CDCB846-F6AC-2E36-16DF-B7C2D065EEEA}"/>
              </a:ext>
            </a:extLst>
          </p:cNvPr>
          <p:cNvSpPr txBox="1"/>
          <p:nvPr/>
        </p:nvSpPr>
        <p:spPr>
          <a:xfrm>
            <a:off x="703628" y="4478162"/>
            <a:ext cx="265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🔲</a:t>
            </a:r>
            <a:endParaRPr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4712B06-9484-8F3D-F1AB-5B8686ABC83D}"/>
              </a:ext>
            </a:extLst>
          </p:cNvPr>
          <p:cNvSpPr txBox="1"/>
          <p:nvPr/>
        </p:nvSpPr>
        <p:spPr>
          <a:xfrm>
            <a:off x="751832" y="4770964"/>
            <a:ext cx="22095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面对 </a:t>
            </a:r>
            <a:r>
              <a:rPr lang="en-US" altLang="zh-CN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R24C10</a:t>
            </a:r>
            <a:r>
              <a:rPr lang="zh-CN" altLang="en-US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R25C00</a:t>
            </a:r>
            <a:r>
              <a:rPr lang="zh-CN" altLang="en-US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R25C10 </a:t>
            </a:r>
            <a:r>
              <a:rPr lang="zh-CN" altLang="en-US" sz="700" b="0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等多个商用版本，需要独立维护</a:t>
            </a:r>
            <a:endParaRPr lang="zh-CN" alt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B9B0E9B-9769-C903-4C69-A11F1D9949CF}"/>
              </a:ext>
            </a:extLst>
          </p:cNvPr>
          <p:cNvSpPr txBox="1"/>
          <p:nvPr/>
        </p:nvSpPr>
        <p:spPr>
          <a:xfrm>
            <a:off x="3646304" y="4457766"/>
            <a:ext cx="817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兼容性适配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15377FA-479F-C1D3-43D2-FFE5B3ED65A8}"/>
              </a:ext>
            </a:extLst>
          </p:cNvPr>
          <p:cNvSpPr txBox="1"/>
          <p:nvPr/>
        </p:nvSpPr>
        <p:spPr>
          <a:xfrm>
            <a:off x="3432576" y="4478162"/>
            <a:ext cx="265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🌐</a:t>
            </a:r>
            <a:endParaRPr lang="zh-CN" alt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10C8EE9-1267-74B5-D3C5-FF1726615A4E}"/>
              </a:ext>
            </a:extLst>
          </p:cNvPr>
          <p:cNvSpPr txBox="1"/>
          <p:nvPr/>
        </p:nvSpPr>
        <p:spPr>
          <a:xfrm>
            <a:off x="3456678" y="4769858"/>
            <a:ext cx="22095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Chrome / Firefox </a:t>
            </a:r>
            <a:r>
              <a:rPr lang="zh-CN" altLang="en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zh-CN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不同浏览器兼容。不同尺寸分辨率兼容。</a:t>
            </a:r>
            <a:endParaRPr lang="zh-CN" altLang="en-US" sz="1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5CB006F-45DF-F68A-EE85-9967DCE1E718}"/>
              </a:ext>
            </a:extLst>
          </p:cNvPr>
          <p:cNvSpPr txBox="1"/>
          <p:nvPr/>
        </p:nvSpPr>
        <p:spPr>
          <a:xfrm>
            <a:off x="917356" y="5388126"/>
            <a:ext cx="14160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设计评审 </a:t>
            </a:r>
            <a:r>
              <a:rPr lang="en-US" altLang="zh-CN" sz="1000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&amp;</a:t>
            </a:r>
            <a:r>
              <a:rPr lang="zh-CN" altLang="en-US" sz="1000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需求平衡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2595C62-BA76-14AF-7CF1-056BD833D94E}"/>
              </a:ext>
            </a:extLst>
          </p:cNvPr>
          <p:cNvSpPr txBox="1"/>
          <p:nvPr/>
        </p:nvSpPr>
        <p:spPr>
          <a:xfrm>
            <a:off x="703628" y="5408522"/>
            <a:ext cx="265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⚖️</a:t>
            </a:r>
            <a:endParaRPr lang="zh-CN" alt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CECC63D-2775-C910-DFD9-473BDE82E231}"/>
              </a:ext>
            </a:extLst>
          </p:cNvPr>
          <p:cNvSpPr txBox="1"/>
          <p:nvPr/>
        </p:nvSpPr>
        <p:spPr>
          <a:xfrm>
            <a:off x="751832" y="5701324"/>
            <a:ext cx="2209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参与设计规范制定。面对用户需求，平衡标准化组件 </a:t>
            </a:r>
            <a:r>
              <a:rPr lang="en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vs </a:t>
            </a:r>
            <a:r>
              <a:rPr lang="zh-CN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业务定制化</a:t>
            </a:r>
            <a:endParaRPr lang="zh-CN" altLang="en-US" sz="1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61EFD989-274E-9336-A9FE-899F04C72636}"/>
              </a:ext>
            </a:extLst>
          </p:cNvPr>
          <p:cNvSpPr txBox="1"/>
          <p:nvPr/>
        </p:nvSpPr>
        <p:spPr>
          <a:xfrm>
            <a:off x="3646304" y="5388126"/>
            <a:ext cx="8179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0" dirty="0">
                <a:solidFill>
                  <a:srgbClr val="1E293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性能优化</a:t>
            </a:r>
            <a:endParaRPr lang="zh-CN" altLang="en-US" sz="1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69AD281-123A-A5E5-9885-F49EDB7D65F1}"/>
              </a:ext>
            </a:extLst>
          </p:cNvPr>
          <p:cNvSpPr txBox="1"/>
          <p:nvPr/>
        </p:nvSpPr>
        <p:spPr>
          <a:xfrm>
            <a:off x="3432576" y="5408522"/>
            <a:ext cx="2659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⚡</a:t>
            </a:r>
            <a:endParaRPr lang="zh-CN" altLang="en-US" sz="7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84F01C6F-1E98-2607-B4E5-269DEB38D11F}"/>
              </a:ext>
            </a:extLst>
          </p:cNvPr>
          <p:cNvSpPr txBox="1"/>
          <p:nvPr/>
        </p:nvSpPr>
        <p:spPr>
          <a:xfrm>
            <a:off x="3480780" y="5701324"/>
            <a:ext cx="22095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万级数据渲染 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&amp; </a:t>
            </a:r>
            <a:r>
              <a:rPr lang="zh-CN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秒级响应</a:t>
            </a:r>
            <a:endParaRPr lang="zh-CN" altLang="en-US" sz="100" dirty="0">
              <a:solidFill>
                <a:schemeClr val="tx1">
                  <a:lumMod val="50000"/>
                  <a:lumOff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AD99585-332D-8D4B-8301-BA12DDA959C9}"/>
              </a:ext>
            </a:extLst>
          </p:cNvPr>
          <p:cNvSpPr txBox="1"/>
          <p:nvPr/>
        </p:nvSpPr>
        <p:spPr>
          <a:xfrm>
            <a:off x="6555261" y="3946576"/>
            <a:ext cx="1319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真实的用户对话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173D1A6-78AA-C588-CD97-7919C41111FC}"/>
              </a:ext>
            </a:extLst>
          </p:cNvPr>
          <p:cNvSpPr txBox="1"/>
          <p:nvPr/>
        </p:nvSpPr>
        <p:spPr>
          <a:xfrm>
            <a:off x="6317698" y="3961681"/>
            <a:ext cx="368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rgbClr val="64748B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💬</a:t>
            </a:r>
            <a:endParaRPr lang="zh-CN" altLang="en-US" sz="1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B32DD078-7F07-5DF0-6B19-F986F33DB844}"/>
              </a:ext>
            </a:extLst>
          </p:cNvPr>
          <p:cNvGrpSpPr/>
          <p:nvPr/>
        </p:nvGrpSpPr>
        <p:grpSpPr>
          <a:xfrm>
            <a:off x="6347899" y="4353085"/>
            <a:ext cx="4010423" cy="505755"/>
            <a:chOff x="6430061" y="4415497"/>
            <a:chExt cx="2815034" cy="505755"/>
          </a:xfrm>
        </p:grpSpPr>
        <p:sp>
          <p:nvSpPr>
            <p:cNvPr id="100" name="圆角矩形 99">
              <a:extLst>
                <a:ext uri="{FF2B5EF4-FFF2-40B4-BE49-F238E27FC236}">
                  <a16:creationId xmlns:a16="http://schemas.microsoft.com/office/drawing/2014/main" id="{F21BC1A2-CE15-D1AD-F05B-500A59757C1D}"/>
                </a:ext>
              </a:extLst>
            </p:cNvPr>
            <p:cNvSpPr/>
            <p:nvPr/>
          </p:nvSpPr>
          <p:spPr>
            <a:xfrm>
              <a:off x="6430061" y="4415497"/>
              <a:ext cx="2815034" cy="496759"/>
            </a:xfrm>
            <a:prstGeom prst="roundRect">
              <a:avLst>
                <a:gd name="adj" fmla="val 36747"/>
              </a:avLst>
            </a:pr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2" name="圆角矩形 101">
              <a:extLst>
                <a:ext uri="{FF2B5EF4-FFF2-40B4-BE49-F238E27FC236}">
                  <a16:creationId xmlns:a16="http://schemas.microsoft.com/office/drawing/2014/main" id="{120B914D-AF76-B1BB-D7F5-9080171D3D91}"/>
                </a:ext>
              </a:extLst>
            </p:cNvPr>
            <p:cNvSpPr/>
            <p:nvPr/>
          </p:nvSpPr>
          <p:spPr>
            <a:xfrm>
              <a:off x="6430061" y="4604480"/>
              <a:ext cx="321345" cy="316772"/>
            </a:xfrm>
            <a:prstGeom prst="roundRect">
              <a:avLst>
                <a:gd name="adj" fmla="val 0"/>
              </a:avLst>
            </a:prstGeom>
            <a:solidFill>
              <a:srgbClr val="F1F5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69039C4-C2B9-9408-1867-76B33CECD575}"/>
              </a:ext>
            </a:extLst>
          </p:cNvPr>
          <p:cNvSpPr txBox="1"/>
          <p:nvPr/>
        </p:nvSpPr>
        <p:spPr>
          <a:xfrm>
            <a:off x="6347900" y="4470659"/>
            <a:ext cx="38862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大佬，能不能增加</a:t>
            </a:r>
            <a:r>
              <a:rPr lang="en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Select</a:t>
            </a:r>
            <a:r>
              <a:rPr lang="zh-CN" altLang="en-US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的虚拟滚动？数据多了太卡。</a:t>
            </a:r>
            <a:r>
              <a:rPr lang="en-US" altLang="zh-CN" sz="10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endParaRPr kumimoji="1" lang="zh-CN" altLang="en-US" sz="10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5B0BF0DE-3B10-EC86-05AB-7C73EAF01424}"/>
              </a:ext>
            </a:extLst>
          </p:cNvPr>
          <p:cNvGrpSpPr/>
          <p:nvPr/>
        </p:nvGrpSpPr>
        <p:grpSpPr>
          <a:xfrm>
            <a:off x="6373599" y="5032741"/>
            <a:ext cx="3984724" cy="505755"/>
            <a:chOff x="6430061" y="4415497"/>
            <a:chExt cx="2815034" cy="505755"/>
          </a:xfrm>
        </p:grpSpPr>
        <p:sp>
          <p:nvSpPr>
            <p:cNvPr id="106" name="圆角矩形 105">
              <a:extLst>
                <a:ext uri="{FF2B5EF4-FFF2-40B4-BE49-F238E27FC236}">
                  <a16:creationId xmlns:a16="http://schemas.microsoft.com/office/drawing/2014/main" id="{AB2C6AB3-7D77-D676-DAB7-DA59A3310275}"/>
                </a:ext>
              </a:extLst>
            </p:cNvPr>
            <p:cNvSpPr/>
            <p:nvPr/>
          </p:nvSpPr>
          <p:spPr>
            <a:xfrm>
              <a:off x="6430061" y="4415497"/>
              <a:ext cx="2815034" cy="496759"/>
            </a:xfrm>
            <a:prstGeom prst="roundRect">
              <a:avLst>
                <a:gd name="adj" fmla="val 36747"/>
              </a:avLst>
            </a:prstGeom>
            <a:solidFill>
              <a:srgbClr val="F0F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7" name="圆角矩形 106">
              <a:extLst>
                <a:ext uri="{FF2B5EF4-FFF2-40B4-BE49-F238E27FC236}">
                  <a16:creationId xmlns:a16="http://schemas.microsoft.com/office/drawing/2014/main" id="{B09591A0-B187-CBC8-4D31-0940BFCCDF06}"/>
                </a:ext>
              </a:extLst>
            </p:cNvPr>
            <p:cNvSpPr/>
            <p:nvPr/>
          </p:nvSpPr>
          <p:spPr>
            <a:xfrm>
              <a:off x="6430061" y="4604480"/>
              <a:ext cx="321345" cy="316772"/>
            </a:xfrm>
            <a:prstGeom prst="roundRect">
              <a:avLst>
                <a:gd name="adj" fmla="val 0"/>
              </a:avLst>
            </a:prstGeom>
            <a:solidFill>
              <a:srgbClr val="F0FD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8" name="文本框 107">
            <a:extLst>
              <a:ext uri="{FF2B5EF4-FFF2-40B4-BE49-F238E27FC236}">
                <a16:creationId xmlns:a16="http://schemas.microsoft.com/office/drawing/2014/main" id="{FDD0A954-24FF-BA54-1361-4FF616283456}"/>
              </a:ext>
            </a:extLst>
          </p:cNvPr>
          <p:cNvSpPr txBox="1"/>
          <p:nvPr/>
        </p:nvSpPr>
        <p:spPr>
          <a:xfrm>
            <a:off x="6373599" y="5150315"/>
            <a:ext cx="378721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e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火狐</a:t>
            </a: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浏览器下 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Table</a:t>
            </a: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表格边框好像有点错位，客户在催。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endParaRPr kumimoji="1" lang="zh-CN" alt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4D9EDDB2-7379-347F-01BD-5AEB708EB928}"/>
              </a:ext>
            </a:extLst>
          </p:cNvPr>
          <p:cNvGrpSpPr/>
          <p:nvPr/>
        </p:nvGrpSpPr>
        <p:grpSpPr>
          <a:xfrm>
            <a:off x="6373599" y="5712397"/>
            <a:ext cx="3984724" cy="505755"/>
            <a:chOff x="6430061" y="4415497"/>
            <a:chExt cx="2815034" cy="505755"/>
          </a:xfrm>
        </p:grpSpPr>
        <p:sp>
          <p:nvSpPr>
            <p:cNvPr id="110" name="圆角矩形 109">
              <a:extLst>
                <a:ext uri="{FF2B5EF4-FFF2-40B4-BE49-F238E27FC236}">
                  <a16:creationId xmlns:a16="http://schemas.microsoft.com/office/drawing/2014/main" id="{C52DEE4F-6EA8-1EFD-BE02-94CBB3285849}"/>
                </a:ext>
              </a:extLst>
            </p:cNvPr>
            <p:cNvSpPr/>
            <p:nvPr/>
          </p:nvSpPr>
          <p:spPr>
            <a:xfrm>
              <a:off x="6430061" y="4415497"/>
              <a:ext cx="2815034" cy="496759"/>
            </a:xfrm>
            <a:prstGeom prst="roundRect">
              <a:avLst>
                <a:gd name="adj" fmla="val 36747"/>
              </a:avLst>
            </a:prstGeom>
            <a:solidFill>
              <a:srgbClr val="FEFC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圆角矩形 110">
              <a:extLst>
                <a:ext uri="{FF2B5EF4-FFF2-40B4-BE49-F238E27FC236}">
                  <a16:creationId xmlns:a16="http://schemas.microsoft.com/office/drawing/2014/main" id="{8BDCB384-90D3-3B31-DE4E-C4E3E2221339}"/>
                </a:ext>
              </a:extLst>
            </p:cNvPr>
            <p:cNvSpPr/>
            <p:nvPr/>
          </p:nvSpPr>
          <p:spPr>
            <a:xfrm>
              <a:off x="6430061" y="4604480"/>
              <a:ext cx="321345" cy="316772"/>
            </a:xfrm>
            <a:prstGeom prst="roundRect">
              <a:avLst>
                <a:gd name="adj" fmla="val 0"/>
              </a:avLst>
            </a:prstGeom>
            <a:solidFill>
              <a:srgbClr val="FEFC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FF3FF32-2BB3-5CAA-98DF-37DA0EBB3D20}"/>
              </a:ext>
            </a:extLst>
          </p:cNvPr>
          <p:cNvSpPr txBox="1"/>
          <p:nvPr/>
        </p:nvSpPr>
        <p:spPr>
          <a:xfrm>
            <a:off x="6373599" y="5829971"/>
            <a:ext cx="39847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zh-CN" altLang="en-US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这周我们产品线过点，黄金周，能不能辛苦周六来支撑一下？</a:t>
            </a:r>
            <a:r>
              <a:rPr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"</a:t>
            </a:r>
            <a:endParaRPr kumimoji="1" lang="zh-CN" altLang="en-US" sz="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106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219</Words>
  <Application>Microsoft Macintosh PowerPoint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Microsoft YaHei</vt:lpstr>
      <vt:lpstr>Inter</vt:lpstr>
      <vt:lpstr>Microsoft YaHei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a3181</dc:creator>
  <cp:lastModifiedBy>a3181</cp:lastModifiedBy>
  <cp:revision>20</cp:revision>
  <dcterms:created xsi:type="dcterms:W3CDTF">2025-11-30T14:48:53Z</dcterms:created>
  <dcterms:modified xsi:type="dcterms:W3CDTF">2025-11-30T17:37:56Z</dcterms:modified>
</cp:coreProperties>
</file>