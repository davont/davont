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CD"/>
    <a:srgbClr val="DEE2E6"/>
    <a:srgbClr val="E9E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 varScale="1">
        <p:scale>
          <a:sx n="152" d="100"/>
          <a:sy n="152" d="100"/>
        </p:scale>
        <p:origin x="8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5F687E-7B11-7BA5-B372-55D9AE7D9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541561-1C8F-AC85-88B6-27EAB487C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34BA42-03E2-4010-F0B8-C5436C82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1F8F-ABA1-754D-986B-C5128BEBB47A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9766A3-F6D2-B0FB-7ED1-F4A4D179A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A7B9D1-4C9B-CCA8-05D2-752F46FDF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2819-F9F8-204D-A0D4-052AC397B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2779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A80B9-DCC9-B007-FEBD-B1E9A20B4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6EBAA9-8725-B49E-7C6C-0C94B0FEF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85D6B9-D400-D39D-8071-E1F2569AC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1F8F-ABA1-754D-986B-C5128BEBB47A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B882A4-176B-AA7B-F5B1-1C7414C68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3847AD-2D17-B5FC-F154-B8F4EFC1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2819-F9F8-204D-A0D4-052AC397B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646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4FE3A-D87A-DF69-EB6C-33460071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ECB3F6-DD1F-04AE-37C8-05EA3D180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E11CF1-4F7A-BD9D-3033-8FA61C48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1F8F-ABA1-754D-986B-C5128BEBB47A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84CD1-D5C5-EB93-850A-4B81BA93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C38194-A879-92A0-72DE-74726F36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2819-F9F8-204D-A0D4-052AC397B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924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B5F4A-55DC-492C-94D8-2683508A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312C52-2477-74DC-A816-7B7ADEA10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1007D7-81BC-61A4-4438-26289BE51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985E7B-3D48-9005-EEE6-55C4AD53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1F8F-ABA1-754D-986B-C5128BEBB47A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0965FA-300D-8059-7C6C-557CD1F02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733178-378A-2C69-EBAE-CF60F4D7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2819-F9F8-204D-A0D4-052AC397B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261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0F28B-1F25-8F45-A931-DCDD6688F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7EA66E-195A-24B5-E149-387CAF736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C06CEA-4ECD-4D0A-390F-BE64AC207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AC93D8-43B9-A58C-0D46-B55DC0049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5CE97F-A4C1-6FE4-2E69-716D765213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02A878-7B34-A540-B5A5-185ED99EA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1F8F-ABA1-754D-986B-C5128BEBB47A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D772AA-49A3-C48E-1A69-E1D8D129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A0DABC-E48F-5605-796F-CC91CAD2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2819-F9F8-204D-A0D4-052AC397B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107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F5E88A-35A1-2A16-DE2F-1CB8D0397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010D3E-9243-0601-5F47-B6BD1C984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1F8F-ABA1-754D-986B-C5128BEBB47A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099392-0DFE-2D0C-2400-A07ED91EF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692C3F-CB37-D17D-B36C-46BF67F6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2819-F9F8-204D-A0D4-052AC397B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601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4418F8-F845-DD58-6C77-9FED8CF4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1F8F-ABA1-754D-986B-C5128BEBB47A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4465AF-5CCB-DBDB-5E25-63EA30F5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662E70-877D-B394-A96C-DF53F316E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2819-F9F8-204D-A0D4-052AC397B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249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E6E01-E67E-821E-2418-1C49BEFE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C2645C-C027-9184-6AB0-1876A560C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2A93E5-B4CA-269E-E50C-AA9B778CC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9F8994-4D99-0608-91DC-2F387B43F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1F8F-ABA1-754D-986B-C5128BEBB47A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95B5AF-5956-A15F-279C-5708E8F2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C6FF0A-4DFC-6E48-0EC2-04E5ABACA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2819-F9F8-204D-A0D4-052AC397B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6040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66814-2B80-D8D0-812A-53A53EE0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AED7C7-BC76-F321-ABE9-94512ECCB6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23B8AC-CA0C-8DD6-DDE4-D5013E1EC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12CD01-5AC3-8705-FC9B-018D20CDA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1F8F-ABA1-754D-986B-C5128BEBB47A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5C653E-41A9-61F6-B24E-A34A460B9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978872-2014-DD8A-896F-043F36AE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2819-F9F8-204D-A0D4-052AC397B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6247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AB284-9BB7-1648-2F93-82E6A9A4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1D6F58-7FBA-8B46-9012-159D3E375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30065F-F3B3-FA2B-2842-85E371B7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1F8F-ABA1-754D-986B-C5128BEBB47A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168A20-9468-CF64-8A18-A962E150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524E47-7958-63E4-C0D1-8A5DC16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2819-F9F8-204D-A0D4-052AC397B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4237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FD6991-C5C8-891D-57FC-56BFF62EC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FEE674-473E-8701-06CE-BBC13F55F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1FC9A1-1284-989C-846C-A974DAD7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1F8F-ABA1-754D-986B-C5128BEBB47A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7864E7-2648-43F5-F51D-451FB957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EEFA28-0EB5-59D9-880A-AE23043C9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2819-F9F8-204D-A0D4-052AC397B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209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B00D91-6551-4B0F-A1AC-E0D8FE19A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938658-AF09-5A9B-478C-57B8CA9A9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BBAB34-C09E-99D1-07D8-A763E408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41F8F-ABA1-754D-986B-C5128BEBB47A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8691F3-3224-0F3B-E737-D388EDBD4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E4A614-99A8-BD92-BF7A-42EFA10C9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62819-F9F8-204D-A0D4-052AC397B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019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8A26384-0F31-0D82-675B-D35B82C8852C}"/>
              </a:ext>
            </a:extLst>
          </p:cNvPr>
          <p:cNvSpPr txBox="1"/>
          <p:nvPr/>
        </p:nvSpPr>
        <p:spPr>
          <a:xfrm>
            <a:off x="394282" y="259950"/>
            <a:ext cx="5561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布局算法特性一：行列分割 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投影算法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9C7729-9EB0-1E1D-28EF-F8C75C46944A}"/>
              </a:ext>
            </a:extLst>
          </p:cNvPr>
          <p:cNvSpPr txBox="1"/>
          <p:nvPr/>
        </p:nvSpPr>
        <p:spPr>
          <a:xfrm>
            <a:off x="394282" y="767781"/>
            <a:ext cx="8774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目标：不用管图层顺序，只用坐标，把元素排成「从上到下，从左到右」的行列结构，本质上就是“</a:t>
            </a:r>
            <a:r>
              <a:rPr lang="zh-CN" altLang="en-US" sz="1200" dirty="0"/>
              <a:t>重分组” </a:t>
            </a:r>
            <a:r>
              <a:rPr lang="en-US" altLang="zh-CN" sz="1200"/>
              <a:t>+ </a:t>
            </a:r>
            <a:r>
              <a:rPr lang="zh-CN" altLang="en-US" sz="1200"/>
              <a:t>“</a:t>
            </a:r>
            <a:r>
              <a:rPr lang="zh-CN" altLang="en-US" sz="1200" dirty="0"/>
              <a:t>打标签”</a:t>
            </a:r>
            <a:endParaRPr lang="zh-CN" altLang="en-US" sz="12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3B50267-4930-8308-8543-AE5696F30F7D}"/>
              </a:ext>
            </a:extLst>
          </p:cNvPr>
          <p:cNvSpPr/>
          <p:nvPr/>
        </p:nvSpPr>
        <p:spPr>
          <a:xfrm>
            <a:off x="394282" y="1267278"/>
            <a:ext cx="3615655" cy="5393581"/>
          </a:xfrm>
          <a:prstGeom prst="roundRect">
            <a:avLst>
              <a:gd name="adj" fmla="val 5810"/>
            </a:avLst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7A98EAD-7BEE-8BA5-3C2A-889E576F278B}"/>
              </a:ext>
            </a:extLst>
          </p:cNvPr>
          <p:cNvSpPr/>
          <p:nvPr/>
        </p:nvSpPr>
        <p:spPr>
          <a:xfrm>
            <a:off x="4296562" y="1267278"/>
            <a:ext cx="3615654" cy="5393581"/>
          </a:xfrm>
          <a:prstGeom prst="roundRect">
            <a:avLst>
              <a:gd name="adj" fmla="val 5810"/>
            </a:avLst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BC73596-6150-F56A-013F-D43D1D2A5216}"/>
              </a:ext>
            </a:extLst>
          </p:cNvPr>
          <p:cNvSpPr/>
          <p:nvPr/>
        </p:nvSpPr>
        <p:spPr>
          <a:xfrm>
            <a:off x="8148508" y="1267278"/>
            <a:ext cx="3615654" cy="5393581"/>
          </a:xfrm>
          <a:prstGeom prst="roundRect">
            <a:avLst>
              <a:gd name="adj" fmla="val 5810"/>
            </a:avLst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9B136D-3CF7-2A77-C0CE-20C82169B859}"/>
              </a:ext>
            </a:extLst>
          </p:cNvPr>
          <p:cNvSpPr txBox="1"/>
          <p:nvPr/>
        </p:nvSpPr>
        <p:spPr>
          <a:xfrm>
            <a:off x="461394" y="1455408"/>
            <a:ext cx="26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输入：扁平的设计图层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7B4F2F8-AAEA-B9B3-222D-26037A5B408D}"/>
              </a:ext>
            </a:extLst>
          </p:cNvPr>
          <p:cNvCxnSpPr>
            <a:cxnSpLocks/>
          </p:cNvCxnSpPr>
          <p:nvPr/>
        </p:nvCxnSpPr>
        <p:spPr>
          <a:xfrm>
            <a:off x="528506" y="1938073"/>
            <a:ext cx="33723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E68D9CA-19EE-7877-CDB9-AE1CB3851D96}"/>
              </a:ext>
            </a:extLst>
          </p:cNvPr>
          <p:cNvSpPr/>
          <p:nvPr/>
        </p:nvSpPr>
        <p:spPr>
          <a:xfrm>
            <a:off x="528506" y="2105637"/>
            <a:ext cx="3372375" cy="1568740"/>
          </a:xfrm>
          <a:prstGeom prst="rect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294AD9-46DC-2491-FA6C-FE2B69E654A3}"/>
              </a:ext>
            </a:extLst>
          </p:cNvPr>
          <p:cNvSpPr txBox="1"/>
          <p:nvPr/>
        </p:nvSpPr>
        <p:spPr>
          <a:xfrm>
            <a:off x="528506" y="3818776"/>
            <a:ext cx="3372375" cy="30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设计工具导出的原始数据是一份</a:t>
            </a:r>
            <a:r>
              <a:rPr lang="zh-CN" altLang="en-US" sz="1050" dirty="0">
                <a:solidFill>
                  <a:srgbClr val="FF0000"/>
                </a:solidFill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扁平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的节点列表。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D0F31E4-EA43-3D7B-0A09-2F694D767F3D}"/>
              </a:ext>
            </a:extLst>
          </p:cNvPr>
          <p:cNvSpPr txBox="1"/>
          <p:nvPr/>
        </p:nvSpPr>
        <p:spPr>
          <a:xfrm>
            <a:off x="528506" y="4153047"/>
            <a:ext cx="3372375" cy="549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每个元素仅仅只包含</a:t>
            </a:r>
            <a:r>
              <a:rPr lang="zh-CN" altLang="en-US" sz="1050" dirty="0">
                <a:solidFill>
                  <a:srgbClr val="FF0000"/>
                </a:solidFill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绝对坐标和尺寸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（</a:t>
            </a:r>
            <a:r>
              <a:rPr lang="en-US" altLang="zh-CN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x, y, width, height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）</a:t>
            </a:r>
            <a:r>
              <a:rPr lang="en-US" altLang="zh-CN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缺乏布局上的父子、兄弟之间的关系。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5C56B6-BC42-F874-D459-C92EB417C14F}"/>
              </a:ext>
            </a:extLst>
          </p:cNvPr>
          <p:cNvSpPr txBox="1"/>
          <p:nvPr/>
        </p:nvSpPr>
        <p:spPr>
          <a:xfrm>
            <a:off x="528506" y="4768925"/>
            <a:ext cx="3372376" cy="1015663"/>
          </a:xfrm>
          <a:prstGeom prst="rect">
            <a:avLst/>
          </a:prstGeom>
          <a:solidFill>
            <a:srgbClr val="E9ECEF"/>
          </a:solidFill>
          <a:ln>
            <a:solidFill>
              <a:srgbClr val="DEE2E6"/>
            </a:solidFill>
          </a:ln>
        </p:spPr>
        <p:txBody>
          <a:bodyPr wrap="square" rtlCol="0">
            <a:spAutoFit/>
          </a:bodyPr>
          <a:lstStyle/>
          <a:p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[ </a:t>
            </a:r>
          </a:p>
          <a:p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   </a:t>
            </a:r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{ “name”: “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Sidebar</a:t>
            </a:r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", "x": 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70</a:t>
            </a:r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"y": 10, ... }, </a:t>
            </a:r>
          </a:p>
          <a:p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   </a:t>
            </a:r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{ “name”: “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Content</a:t>
            </a:r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", "x": 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70</a:t>
            </a:r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"y": 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</a:t>
            </a:r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50, ... }, </a:t>
            </a:r>
          </a:p>
          <a:p>
            <a:r>
              <a:rPr lang="zh-CN" altLang="en-US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   </a:t>
            </a:r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{ “name”: “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Header</a:t>
            </a:r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", "x": 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10</a:t>
            </a:r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"y": </a:t>
            </a:r>
            <a:r>
              <a:rPr lang="en-US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10</a:t>
            </a:r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... } </a:t>
            </a:r>
          </a:p>
          <a:p>
            <a:r>
              <a:rPr lang="en" altLang="zh-CN" sz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]</a:t>
            </a:r>
            <a:endParaRPr kumimoji="1" lang="zh-CN" altLang="en-US" sz="12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25E4BFE-8B7B-DDD0-FF26-BB595F7AA5BE}"/>
              </a:ext>
            </a:extLst>
          </p:cNvPr>
          <p:cNvSpPr/>
          <p:nvPr/>
        </p:nvSpPr>
        <p:spPr>
          <a:xfrm>
            <a:off x="515921" y="6004018"/>
            <a:ext cx="3372375" cy="549561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8A26944-4418-49AA-8019-E69E6DB888E9}"/>
              </a:ext>
            </a:extLst>
          </p:cNvPr>
          <p:cNvSpPr txBox="1"/>
          <p:nvPr/>
        </p:nvSpPr>
        <p:spPr>
          <a:xfrm>
            <a:off x="515921" y="6047965"/>
            <a:ext cx="3359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856404"/>
                </a:solidFill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痛点</a:t>
            </a:r>
            <a:r>
              <a:rPr lang="en-US" altLang="zh-CN" sz="1200" dirty="0">
                <a:solidFill>
                  <a:srgbClr val="856404"/>
                </a:solidFill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:</a:t>
            </a:r>
            <a:r>
              <a:rPr lang="zh-CN" altLang="en-US" sz="1200" dirty="0">
                <a:solidFill>
                  <a:srgbClr val="856404"/>
                </a:solidFill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 无法直接</a:t>
            </a:r>
            <a:r>
              <a:rPr lang="zh-CN" altLang="en-US" sz="1200" dirty="0">
                <a:solidFill>
                  <a:srgbClr val="856404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解析，图层节点之间的关系、顺序未有效表达，无法反应空间布局。</a:t>
            </a:r>
            <a:endParaRPr lang="zh-CN" altLang="en-US" sz="12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EE260E-7CF1-585F-1F2C-4EC665B31529}"/>
              </a:ext>
            </a:extLst>
          </p:cNvPr>
          <p:cNvSpPr txBox="1"/>
          <p:nvPr/>
        </p:nvSpPr>
        <p:spPr>
          <a:xfrm>
            <a:off x="4429387" y="1455408"/>
            <a:ext cx="26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处理：扁平的设计图层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A9E6146-C310-C998-F2BD-ED5E22E38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06" y="2132155"/>
            <a:ext cx="3347205" cy="153762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CFE9862-315B-3076-F7C5-495E77C93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090" y="2456330"/>
            <a:ext cx="2074384" cy="1837312"/>
          </a:xfrm>
          <a:prstGeom prst="rect">
            <a:avLst/>
          </a:prstGeom>
        </p:spPr>
      </p:pic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061DDCD8-3B8B-49F8-5088-1DF74127CD76}"/>
              </a:ext>
            </a:extLst>
          </p:cNvPr>
          <p:cNvCxnSpPr>
            <a:cxnSpLocks/>
          </p:cNvCxnSpPr>
          <p:nvPr/>
        </p:nvCxnSpPr>
        <p:spPr>
          <a:xfrm>
            <a:off x="4393034" y="1938073"/>
            <a:ext cx="33723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E92E4CCC-83CB-FD80-C83B-61C1202D6592}"/>
              </a:ext>
            </a:extLst>
          </p:cNvPr>
          <p:cNvSpPr txBox="1"/>
          <p:nvPr/>
        </p:nvSpPr>
        <p:spPr>
          <a:xfrm>
            <a:off x="5800287" y="1912256"/>
            <a:ext cx="5578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007BFF"/>
                </a:solidFill>
                <a:effectLst/>
                <a:latin typeface="-apple-system"/>
              </a:rPr>
              <a:t>→</a:t>
            </a:r>
            <a:endParaRPr lang="zh-CN" altLang="en-US" sz="2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F7C45CE-DAC5-251E-5583-AE2FBCD04FDB}"/>
              </a:ext>
            </a:extLst>
          </p:cNvPr>
          <p:cNvSpPr txBox="1"/>
          <p:nvPr/>
        </p:nvSpPr>
        <p:spPr>
          <a:xfrm>
            <a:off x="5512512" y="2246084"/>
            <a:ext cx="1111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07BFF"/>
                </a:solidFill>
                <a:effectLst/>
                <a:latin typeface="-apple-system"/>
              </a:rPr>
              <a:t>投影算法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C04094C-E4A6-89D5-1AC9-2FEE5BDEA5F9}"/>
              </a:ext>
            </a:extLst>
          </p:cNvPr>
          <p:cNvSpPr txBox="1"/>
          <p:nvPr/>
        </p:nvSpPr>
        <p:spPr>
          <a:xfrm>
            <a:off x="4383246" y="4303652"/>
            <a:ext cx="27222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关系预识别 </a:t>
            </a:r>
            <a:r>
              <a:rPr lang="en-US" altLang="zh-CN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建立层级</a:t>
            </a:r>
            <a:r>
              <a:rPr lang="en-US" altLang="zh-CN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383AABA-C8D5-E210-724E-72C13D231E48}"/>
              </a:ext>
            </a:extLst>
          </p:cNvPr>
          <p:cNvSpPr txBox="1"/>
          <p:nvPr/>
        </p:nvSpPr>
        <p:spPr>
          <a:xfrm>
            <a:off x="4393034" y="4555486"/>
            <a:ext cx="32903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通过检测</a:t>
            </a:r>
            <a:r>
              <a:rPr lang="en-US" altLang="zh-CN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`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包含</a:t>
            </a:r>
            <a:r>
              <a:rPr lang="en-US" altLang="zh-CN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`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关系构建父子结构，通过</a:t>
            </a:r>
            <a:r>
              <a:rPr lang="en-US" altLang="zh-CN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`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相交</a:t>
            </a:r>
            <a:r>
              <a:rPr lang="en-US" altLang="zh-CN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`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关系处理覆盖物 </a:t>
            </a:r>
            <a:r>
              <a:rPr lang="en-US" altLang="zh-CN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(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如绝对定位</a:t>
            </a:r>
            <a:r>
              <a:rPr lang="en-US" altLang="zh-CN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)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。</a:t>
            </a:r>
            <a:endParaRPr lang="zh-CN" altLang="en-US" sz="105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0B23782-EA06-2864-9B91-7AA7E28AF099}"/>
              </a:ext>
            </a:extLst>
          </p:cNvPr>
          <p:cNvSpPr txBox="1"/>
          <p:nvPr/>
        </p:nvSpPr>
        <p:spPr>
          <a:xfrm>
            <a:off x="4383246" y="5000080"/>
            <a:ext cx="27222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28A7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. </a:t>
            </a:r>
            <a:r>
              <a:rPr lang="zh-CN" altLang="en-US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投影分割 </a:t>
            </a:r>
            <a:r>
              <a:rPr lang="en-US" altLang="zh-CN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200" dirty="0">
                <a:solidFill>
                  <a:srgbClr val="28A7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分组布局</a:t>
            </a:r>
            <a:r>
              <a:rPr lang="en-US" altLang="zh-CN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F275F25-D6EA-07D8-4936-C900F2AB42F8}"/>
              </a:ext>
            </a:extLst>
          </p:cNvPr>
          <p:cNvSpPr txBox="1"/>
          <p:nvPr/>
        </p:nvSpPr>
        <p:spPr>
          <a:xfrm>
            <a:off x="4383246" y="5256534"/>
            <a:ext cx="32903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对同级“相离”的元素进行投影，寻找空白间隙，将其分组成行或列。</a:t>
            </a:r>
            <a:endParaRPr lang="zh-CN" altLang="en-US" sz="105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B1E6012-7C26-B7C2-25D5-EEC5E64CD53A}"/>
              </a:ext>
            </a:extLst>
          </p:cNvPr>
          <p:cNvSpPr txBox="1"/>
          <p:nvPr/>
        </p:nvSpPr>
        <p:spPr>
          <a:xfrm>
            <a:off x="1882634" y="2309658"/>
            <a:ext cx="9773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b="0" i="0" dirty="0">
                <a:effectLst/>
                <a:latin typeface="-apple-system"/>
              </a:rPr>
              <a:t>Header</a:t>
            </a:r>
            <a:endParaRPr lang="zh-CN" altLang="en-US" sz="11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7EDBD50-BF4C-6744-391C-0FB9C500C280}"/>
              </a:ext>
            </a:extLst>
          </p:cNvPr>
          <p:cNvSpPr txBox="1"/>
          <p:nvPr/>
        </p:nvSpPr>
        <p:spPr>
          <a:xfrm>
            <a:off x="634070" y="3037310"/>
            <a:ext cx="6326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b="0" i="0" dirty="0">
                <a:effectLst/>
                <a:latin typeface="-apple-system"/>
              </a:rPr>
              <a:t>Sidebar</a:t>
            </a:r>
            <a:endParaRPr lang="zh-CN" altLang="en-US" sz="11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41B0387-1804-916E-3045-BFF8D47811FA}"/>
              </a:ext>
            </a:extLst>
          </p:cNvPr>
          <p:cNvSpPr txBox="1"/>
          <p:nvPr/>
        </p:nvSpPr>
        <p:spPr>
          <a:xfrm>
            <a:off x="2109834" y="3037310"/>
            <a:ext cx="7675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dirty="0">
                <a:latin typeface="-apple-system"/>
              </a:rPr>
              <a:t>C</a:t>
            </a:r>
            <a:r>
              <a:rPr lang="en" altLang="zh-CN" sz="1100" b="0" i="0" dirty="0">
                <a:effectLst/>
                <a:latin typeface="-apple-system"/>
              </a:rPr>
              <a:t>ontent</a:t>
            </a:r>
            <a:endParaRPr lang="zh-CN" altLang="en-US" sz="11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0FDDBB0-CB2A-8CF4-A264-CD5C4116DDBC}"/>
              </a:ext>
            </a:extLst>
          </p:cNvPr>
          <p:cNvSpPr txBox="1"/>
          <p:nvPr/>
        </p:nvSpPr>
        <p:spPr>
          <a:xfrm>
            <a:off x="4383246" y="5724179"/>
            <a:ext cx="27222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1200" dirty="0">
                <a:solidFill>
                  <a:srgbClr val="28A7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递归执行</a:t>
            </a:r>
            <a:r>
              <a:rPr lang="zh-CN" altLang="en-US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深入细节</a:t>
            </a:r>
            <a:r>
              <a:rPr lang="en-US" altLang="zh-CN" sz="1200" dirty="0">
                <a:solidFill>
                  <a:srgbClr val="28A74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6D8744D-2ECA-DC2A-03E6-9A916625D326}"/>
              </a:ext>
            </a:extLst>
          </p:cNvPr>
          <p:cNvSpPr txBox="1"/>
          <p:nvPr/>
        </p:nvSpPr>
        <p:spPr>
          <a:xfrm>
            <a:off x="4393034" y="5977346"/>
            <a:ext cx="32903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对每个新创建的行</a:t>
            </a:r>
            <a:r>
              <a:rPr lang="en-US" altLang="zh-CN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/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列容器，递归地重复上述过程，直至完成处理所有节点。</a:t>
            </a:r>
            <a:endParaRPr lang="zh-CN" altLang="en-US" sz="105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1877E45-A6D9-CAF2-A0B0-F6C66BDB7719}"/>
              </a:ext>
            </a:extLst>
          </p:cNvPr>
          <p:cNvSpPr txBox="1"/>
          <p:nvPr/>
        </p:nvSpPr>
        <p:spPr>
          <a:xfrm>
            <a:off x="8198841" y="1455408"/>
            <a:ext cx="26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输出：层级化的布局树</a:t>
            </a:r>
          </a:p>
        </p:txBody>
      </p: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D9C26D7C-A6C4-183F-32C5-9EC85DF6BD46}"/>
              </a:ext>
            </a:extLst>
          </p:cNvPr>
          <p:cNvCxnSpPr>
            <a:cxnSpLocks/>
          </p:cNvCxnSpPr>
          <p:nvPr/>
        </p:nvCxnSpPr>
        <p:spPr>
          <a:xfrm>
            <a:off x="8270147" y="1939687"/>
            <a:ext cx="33723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B7A5A5E9-45B5-7527-6929-77F0909664AB}"/>
              </a:ext>
            </a:extLst>
          </p:cNvPr>
          <p:cNvSpPr/>
          <p:nvPr/>
        </p:nvSpPr>
        <p:spPr>
          <a:xfrm>
            <a:off x="8254845" y="2054635"/>
            <a:ext cx="3372375" cy="1568740"/>
          </a:xfrm>
          <a:prstGeom prst="rect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68C96CD1-F513-A106-5AD3-A74390CD4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424" y="2309658"/>
            <a:ext cx="3239218" cy="1230482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B323FB9D-EA16-83BA-4F13-82815AB7FC31}"/>
              </a:ext>
            </a:extLst>
          </p:cNvPr>
          <p:cNvSpPr txBox="1"/>
          <p:nvPr/>
        </p:nvSpPr>
        <p:spPr>
          <a:xfrm>
            <a:off x="8198841" y="3854581"/>
            <a:ext cx="32903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生成一个全新的、描述布局关系的树形结构数据。</a:t>
            </a:r>
            <a:endParaRPr lang="zh-CN" altLang="en-US" sz="105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BC68153-D586-0B1E-F72C-E536D416C0AB}"/>
              </a:ext>
            </a:extLst>
          </p:cNvPr>
          <p:cNvSpPr txBox="1"/>
          <p:nvPr/>
        </p:nvSpPr>
        <p:spPr>
          <a:xfrm>
            <a:off x="8198841" y="4117687"/>
            <a:ext cx="32903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节点被组织成 行（</a:t>
            </a:r>
            <a:r>
              <a:rPr lang="en-US" altLang="zh-CN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Row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）、列（</a:t>
            </a:r>
            <a:r>
              <a:rPr lang="en-US" altLang="zh-CN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Column</a:t>
            </a:r>
            <a:r>
              <a:rPr lang="zh-CN" altLang="en-US" sz="1050" dirty="0"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）等逻辑容器</a:t>
            </a:r>
            <a:endParaRPr lang="zh-CN" altLang="en-US" sz="105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DC31531-EDE4-A926-FFE6-64023194ABB9}"/>
              </a:ext>
            </a:extLst>
          </p:cNvPr>
          <p:cNvSpPr txBox="1"/>
          <p:nvPr/>
        </p:nvSpPr>
        <p:spPr>
          <a:xfrm>
            <a:off x="8270147" y="4555486"/>
            <a:ext cx="3372376" cy="1754326"/>
          </a:xfrm>
          <a:prstGeom prst="rect">
            <a:avLst/>
          </a:prstGeom>
          <a:solidFill>
            <a:srgbClr val="E9ECEF"/>
          </a:solidFill>
          <a:ln>
            <a:solidFill>
              <a:srgbClr val="DEE2E6"/>
            </a:solidFill>
          </a:ln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{ </a:t>
            </a:r>
          </a:p>
          <a:p>
            <a:r>
              <a:rPr lang="zh-CN" altLang="en-US" sz="1200" dirty="0"/>
              <a:t>    </a:t>
            </a:r>
            <a:r>
              <a:rPr lang="en" altLang="zh-CN" sz="1200" dirty="0"/>
              <a:t>"type": "COLUMN", </a:t>
            </a:r>
          </a:p>
          <a:p>
            <a:r>
              <a:rPr lang="zh-CN" altLang="en-US" sz="1200" dirty="0"/>
              <a:t>    </a:t>
            </a:r>
            <a:r>
              <a:rPr lang="en" altLang="zh-CN" sz="1200" dirty="0"/>
              <a:t>"children": [ </a:t>
            </a:r>
          </a:p>
          <a:p>
            <a:r>
              <a:rPr lang="zh-CN" altLang="en-US" sz="1200" dirty="0"/>
              <a:t>       </a:t>
            </a:r>
            <a:r>
              <a:rPr lang="en" altLang="zh-CN" sz="1200" dirty="0"/>
              <a:t>{ “type”: “LEAF”, “element”: “Header” }, </a:t>
            </a:r>
            <a:r>
              <a:rPr lang="zh-CN" altLang="en-US" sz="1200" dirty="0"/>
              <a:t>      </a:t>
            </a:r>
            <a:endParaRPr lang="en-US" altLang="zh-CN" sz="1200" dirty="0"/>
          </a:p>
          <a:p>
            <a:r>
              <a:rPr lang="zh-CN" altLang="en-US" sz="1200" dirty="0"/>
              <a:t>       </a:t>
            </a:r>
            <a:r>
              <a:rPr lang="en" altLang="zh-CN" sz="1200" dirty="0"/>
              <a:t>{ "type": "ROW", </a:t>
            </a:r>
          </a:p>
          <a:p>
            <a:r>
              <a:rPr lang="zh-CN" altLang="en-US" sz="1200" dirty="0"/>
              <a:t>             </a:t>
            </a:r>
            <a:r>
              <a:rPr lang="en" altLang="zh-CN" sz="1200" dirty="0"/>
              <a:t>"children": [ ... ] </a:t>
            </a:r>
          </a:p>
          <a:p>
            <a:r>
              <a:rPr lang="zh-CN" altLang="en-US" sz="1200" dirty="0"/>
              <a:t>       </a:t>
            </a:r>
            <a:r>
              <a:rPr lang="en" altLang="zh-CN" sz="1200" dirty="0"/>
              <a:t>}</a:t>
            </a:r>
          </a:p>
          <a:p>
            <a:r>
              <a:rPr lang="zh-CN" altLang="en-US" sz="1200" dirty="0"/>
              <a:t>    </a:t>
            </a:r>
            <a:r>
              <a:rPr lang="en" altLang="zh-CN" sz="1200" dirty="0"/>
              <a:t>] </a:t>
            </a:r>
          </a:p>
          <a:p>
            <a:r>
              <a:rPr lang="en" altLang="zh-CN" sz="1200" dirty="0"/>
              <a:t>}</a:t>
            </a:r>
            <a:endParaRPr kumimoji="1" lang="zh-CN" altLang="en-US" sz="12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9207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377</Words>
  <Application>Microsoft Macintosh PowerPoint</Application>
  <PresentationFormat>宽屏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-apple-system</vt:lpstr>
      <vt:lpstr>等线</vt:lpstr>
      <vt:lpstr>等线 Light</vt:lpstr>
      <vt:lpstr>Microsoft YaHei</vt:lpstr>
      <vt:lpstr>Microsoft YaHei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a3181</dc:creator>
  <cp:lastModifiedBy>a3181</cp:lastModifiedBy>
  <cp:revision>11</cp:revision>
  <dcterms:created xsi:type="dcterms:W3CDTF">2025-11-16T13:20:51Z</dcterms:created>
  <dcterms:modified xsi:type="dcterms:W3CDTF">2025-11-17T00:39:35Z</dcterms:modified>
</cp:coreProperties>
</file>